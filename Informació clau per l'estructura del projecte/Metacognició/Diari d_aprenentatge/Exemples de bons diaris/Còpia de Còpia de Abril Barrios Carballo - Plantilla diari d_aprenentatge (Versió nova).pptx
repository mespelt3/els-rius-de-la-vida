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Playfair Display"/>
      <p:regular r:id="rId16"/>
      <p:bold r:id="rId17"/>
      <p:italic r:id="rId18"/>
      <p:boldItalic r:id="rId19"/>
    </p:embeddedFont>
    <p:embeddedFont>
      <p:font typeface="Lexen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exend-regular.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Lexend-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fairDisplay-bold.fntdata"/><Relationship Id="rId16" Type="http://schemas.openxmlformats.org/officeDocument/2006/relationships/font" Target="fonts/PlayfairDisplay-regular.fntdata"/><Relationship Id="rId5" Type="http://schemas.openxmlformats.org/officeDocument/2006/relationships/slide" Target="slides/slide1.xml"/><Relationship Id="rId19" Type="http://schemas.openxmlformats.org/officeDocument/2006/relationships/font" Target="fonts/PlayfairDisplay-boldItalic.fntdata"/><Relationship Id="rId6" Type="http://schemas.openxmlformats.org/officeDocument/2006/relationships/slide" Target="slides/slide2.xml"/><Relationship Id="rId18" Type="http://schemas.openxmlformats.org/officeDocument/2006/relationships/font" Target="fonts/PlayfairDisplay-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6b1fa36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6b1fa36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6b1fa363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6b1fa363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6b1fa36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6b1fa36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4ea12c0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4ea12c0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1c9c9bc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1c9c9bc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6b1fa36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6b1fa36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6b1fa36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6b1fa36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6b1fa363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6b1fa363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6b1fa363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6b1fa363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6b1fa363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6b1fa363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image" Target="../media/image1.png"/><Relationship Id="rId12"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youtube.com/watch?v=I6aaObjRqu0" TargetMode="External"/><Relationship Id="rId4" Type="http://schemas.openxmlformats.org/officeDocument/2006/relationships/image" Target="../media/image14.jp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http://www.youtube.com/watch?v=SxUj_vOXRvg" TargetMode="External"/><Relationship Id="rId6"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hyperlink" Target="http://www.youtube.com/watch?v=q5tTpFOMpL4" TargetMode="External"/><Relationship Id="rId5"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Uuwi6RdHPXY" TargetMode="External"/><Relationship Id="rId4" Type="http://schemas.openxmlformats.org/officeDocument/2006/relationships/image" Target="../media/image17.jp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youtube.com/watch?v=7b4KXPwckw0" TargetMode="External"/><Relationship Id="rId4" Type="http://schemas.openxmlformats.org/officeDocument/2006/relationships/image" Target="../media/image24.jpg"/><Relationship Id="rId5" Type="http://schemas.openxmlformats.org/officeDocument/2006/relationships/hyperlink" Target="http://www.youtube.com/watch?v=YbdQVilMRRU" TargetMode="External"/><Relationship Id="rId6"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8" y="42012"/>
            <a:ext cx="2074458" cy="2730675"/>
          </a:xfrm>
          <a:prstGeom prst="rect">
            <a:avLst/>
          </a:prstGeom>
          <a:noFill/>
          <a:ln>
            <a:noFill/>
          </a:ln>
        </p:spPr>
      </p:pic>
      <p:pic>
        <p:nvPicPr>
          <p:cNvPr id="55" name="Google Shape;55;p13"/>
          <p:cNvPicPr preferRelativeResize="0"/>
          <p:nvPr/>
        </p:nvPicPr>
        <p:blipFill rotWithShape="1">
          <a:blip r:embed="rId4">
            <a:alphaModFix/>
          </a:blip>
          <a:srcRect b="0" l="7450" r="0" t="0"/>
          <a:stretch/>
        </p:blipFill>
        <p:spPr>
          <a:xfrm>
            <a:off x="0" y="0"/>
            <a:ext cx="4651725" cy="2814700"/>
          </a:xfrm>
          <a:prstGeom prst="rect">
            <a:avLst/>
          </a:prstGeom>
          <a:noFill/>
          <a:ln>
            <a:noFill/>
          </a:ln>
        </p:spPr>
      </p:pic>
      <p:pic>
        <p:nvPicPr>
          <p:cNvPr id="56" name="Google Shape;56;p13"/>
          <p:cNvPicPr preferRelativeResize="0"/>
          <p:nvPr/>
        </p:nvPicPr>
        <p:blipFill rotWithShape="1">
          <a:blip r:embed="rId5">
            <a:alphaModFix/>
          </a:blip>
          <a:srcRect b="0" l="12042" r="0" t="0"/>
          <a:stretch/>
        </p:blipFill>
        <p:spPr>
          <a:xfrm>
            <a:off x="-1" y="2713700"/>
            <a:ext cx="3223425" cy="2429800"/>
          </a:xfrm>
          <a:prstGeom prst="rect">
            <a:avLst/>
          </a:prstGeom>
          <a:noFill/>
          <a:ln>
            <a:noFill/>
          </a:ln>
        </p:spPr>
      </p:pic>
      <p:pic>
        <p:nvPicPr>
          <p:cNvPr id="57" name="Google Shape;57;p13"/>
          <p:cNvPicPr preferRelativeResize="0"/>
          <p:nvPr/>
        </p:nvPicPr>
        <p:blipFill rotWithShape="1">
          <a:blip r:embed="rId6">
            <a:alphaModFix/>
          </a:blip>
          <a:srcRect b="0" l="0" r="13592" t="0"/>
          <a:stretch/>
        </p:blipFill>
        <p:spPr>
          <a:xfrm>
            <a:off x="1570450" y="2713700"/>
            <a:ext cx="3749370" cy="2429800"/>
          </a:xfrm>
          <a:prstGeom prst="rect">
            <a:avLst/>
          </a:prstGeom>
          <a:noFill/>
          <a:ln>
            <a:noFill/>
          </a:ln>
        </p:spPr>
      </p:pic>
      <p:pic>
        <p:nvPicPr>
          <p:cNvPr id="58" name="Google Shape;58;p13"/>
          <p:cNvPicPr preferRelativeResize="0"/>
          <p:nvPr/>
        </p:nvPicPr>
        <p:blipFill>
          <a:blip r:embed="rId7">
            <a:alphaModFix/>
          </a:blip>
          <a:stretch>
            <a:fillRect/>
          </a:stretch>
        </p:blipFill>
        <p:spPr>
          <a:xfrm>
            <a:off x="3990750" y="2992400"/>
            <a:ext cx="4302200" cy="2151100"/>
          </a:xfrm>
          <a:prstGeom prst="rect">
            <a:avLst/>
          </a:prstGeom>
          <a:noFill/>
          <a:ln>
            <a:noFill/>
          </a:ln>
        </p:spPr>
      </p:pic>
      <p:pic>
        <p:nvPicPr>
          <p:cNvPr id="59" name="Google Shape;59;p13"/>
          <p:cNvPicPr preferRelativeResize="0"/>
          <p:nvPr/>
        </p:nvPicPr>
        <p:blipFill>
          <a:blip r:embed="rId8">
            <a:alphaModFix/>
          </a:blip>
          <a:stretch>
            <a:fillRect/>
          </a:stretch>
        </p:blipFill>
        <p:spPr>
          <a:xfrm>
            <a:off x="3990750" y="0"/>
            <a:ext cx="2619375" cy="1743075"/>
          </a:xfrm>
          <a:prstGeom prst="rect">
            <a:avLst/>
          </a:prstGeom>
          <a:noFill/>
          <a:ln>
            <a:noFill/>
          </a:ln>
        </p:spPr>
      </p:pic>
      <p:pic>
        <p:nvPicPr>
          <p:cNvPr id="60" name="Google Shape;60;p13"/>
          <p:cNvPicPr preferRelativeResize="0"/>
          <p:nvPr/>
        </p:nvPicPr>
        <p:blipFill>
          <a:blip r:embed="rId9">
            <a:alphaModFix/>
          </a:blip>
          <a:stretch>
            <a:fillRect/>
          </a:stretch>
        </p:blipFill>
        <p:spPr>
          <a:xfrm>
            <a:off x="3990738" y="1249313"/>
            <a:ext cx="2619375" cy="1743075"/>
          </a:xfrm>
          <a:prstGeom prst="rect">
            <a:avLst/>
          </a:prstGeom>
          <a:noFill/>
          <a:ln>
            <a:noFill/>
          </a:ln>
        </p:spPr>
      </p:pic>
      <p:pic>
        <p:nvPicPr>
          <p:cNvPr id="61" name="Google Shape;61;p13"/>
          <p:cNvPicPr preferRelativeResize="0"/>
          <p:nvPr/>
        </p:nvPicPr>
        <p:blipFill>
          <a:blip r:embed="rId10">
            <a:alphaModFix/>
          </a:blip>
          <a:stretch>
            <a:fillRect/>
          </a:stretch>
        </p:blipFill>
        <p:spPr>
          <a:xfrm>
            <a:off x="6530514" y="0"/>
            <a:ext cx="2619375" cy="1632483"/>
          </a:xfrm>
          <a:prstGeom prst="rect">
            <a:avLst/>
          </a:prstGeom>
          <a:noFill/>
          <a:ln>
            <a:noFill/>
          </a:ln>
          <a:effectLst>
            <a:outerShdw blurRad="57150" rotWithShape="0" algn="bl" dir="5400000" dist="19050">
              <a:schemeClr val="lt1">
                <a:alpha val="50000"/>
              </a:schemeClr>
            </a:outerShdw>
          </a:effectLst>
        </p:spPr>
      </p:pic>
      <p:sp>
        <p:nvSpPr>
          <p:cNvPr id="62" name="Google Shape;62;p13"/>
          <p:cNvSpPr txBox="1"/>
          <p:nvPr/>
        </p:nvSpPr>
        <p:spPr>
          <a:xfrm>
            <a:off x="2357850" y="216300"/>
            <a:ext cx="6687600" cy="812700"/>
          </a:xfrm>
          <a:prstGeom prst="rect">
            <a:avLst/>
          </a:prstGeom>
          <a:noFill/>
          <a:ln>
            <a:noFill/>
          </a:ln>
          <a:effectLst>
            <a:outerShdw blurRad="114300" rotWithShape="0" algn="bl" dir="21540000" dist="123825">
              <a:schemeClr val="lt1">
                <a:alpha val="39000"/>
              </a:schemeClr>
            </a:outerShdw>
          </a:effectLst>
        </p:spPr>
        <p:txBody>
          <a:bodyPr anchorCtr="0" anchor="b" bIns="91425" lIns="91425" spcFirstLastPara="1" rIns="91425" wrap="square" tIns="91425">
            <a:noAutofit/>
          </a:bodyPr>
          <a:lstStyle/>
          <a:p>
            <a:pPr indent="0" lvl="0" marL="0" rtl="0" algn="just">
              <a:spcBef>
                <a:spcPts val="0"/>
              </a:spcBef>
              <a:spcAft>
                <a:spcPts val="0"/>
              </a:spcAft>
              <a:buNone/>
            </a:pPr>
            <a:r>
              <a:rPr b="1" lang="ca" sz="3800">
                <a:solidFill>
                  <a:schemeClr val="lt1"/>
                </a:solidFill>
                <a:latin typeface="Lexend"/>
                <a:ea typeface="Lexend"/>
                <a:cs typeface="Lexend"/>
                <a:sym typeface="Lexend"/>
              </a:rPr>
              <a:t>DIARI D’APRENENTATGE</a:t>
            </a:r>
            <a:endParaRPr b="1" sz="3800">
              <a:solidFill>
                <a:schemeClr val="lt1"/>
              </a:solidFill>
              <a:latin typeface="Lexend"/>
              <a:ea typeface="Lexend"/>
              <a:cs typeface="Lexend"/>
              <a:sym typeface="Lexend"/>
            </a:endParaRPr>
          </a:p>
        </p:txBody>
      </p:sp>
      <p:pic>
        <p:nvPicPr>
          <p:cNvPr id="63" name="Google Shape;63;p13"/>
          <p:cNvPicPr preferRelativeResize="0"/>
          <p:nvPr/>
        </p:nvPicPr>
        <p:blipFill>
          <a:blip r:embed="rId3">
            <a:alphaModFix/>
          </a:blip>
          <a:stretch>
            <a:fillRect/>
          </a:stretch>
        </p:blipFill>
        <p:spPr>
          <a:xfrm>
            <a:off x="0" y="-16941"/>
            <a:ext cx="2074450" cy="2730653"/>
          </a:xfrm>
          <a:prstGeom prst="rect">
            <a:avLst/>
          </a:prstGeom>
          <a:noFill/>
          <a:ln>
            <a:noFill/>
          </a:ln>
        </p:spPr>
      </p:pic>
      <p:pic>
        <p:nvPicPr>
          <p:cNvPr id="64" name="Google Shape;64;p13"/>
          <p:cNvPicPr preferRelativeResize="0"/>
          <p:nvPr/>
        </p:nvPicPr>
        <p:blipFill rotWithShape="1">
          <a:blip r:embed="rId11">
            <a:alphaModFix/>
          </a:blip>
          <a:srcRect b="0" l="5006" r="0" t="0"/>
          <a:stretch/>
        </p:blipFill>
        <p:spPr>
          <a:xfrm>
            <a:off x="6582525" y="1492150"/>
            <a:ext cx="2569650" cy="1685925"/>
          </a:xfrm>
          <a:prstGeom prst="rect">
            <a:avLst/>
          </a:prstGeom>
          <a:noFill/>
          <a:ln>
            <a:noFill/>
          </a:ln>
        </p:spPr>
      </p:pic>
      <p:pic>
        <p:nvPicPr>
          <p:cNvPr id="65" name="Google Shape;65;p13"/>
          <p:cNvPicPr preferRelativeResize="0"/>
          <p:nvPr/>
        </p:nvPicPr>
        <p:blipFill rotWithShape="1">
          <a:blip r:embed="rId12">
            <a:alphaModFix/>
          </a:blip>
          <a:srcRect b="9140" l="0" r="30016" t="0"/>
          <a:stretch/>
        </p:blipFill>
        <p:spPr>
          <a:xfrm>
            <a:off x="6610125" y="3123250"/>
            <a:ext cx="2569650" cy="2020250"/>
          </a:xfrm>
          <a:prstGeom prst="rect">
            <a:avLst/>
          </a:prstGeom>
          <a:noFill/>
          <a:ln>
            <a:noFill/>
          </a:ln>
        </p:spPr>
      </p:pic>
      <p:sp>
        <p:nvSpPr>
          <p:cNvPr id="66" name="Google Shape;66;p13"/>
          <p:cNvSpPr/>
          <p:nvPr/>
        </p:nvSpPr>
        <p:spPr>
          <a:xfrm>
            <a:off x="90875" y="42000"/>
            <a:ext cx="1892700" cy="987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a"/>
              <a:t>ABRIL BARRIOS</a:t>
            </a:r>
            <a:endParaRPr/>
          </a:p>
        </p:txBody>
      </p:sp>
      <p:sp>
        <p:nvSpPr>
          <p:cNvPr id="67" name="Google Shape;67;p13"/>
          <p:cNvSpPr txBox="1"/>
          <p:nvPr/>
        </p:nvSpPr>
        <p:spPr>
          <a:xfrm>
            <a:off x="649225" y="1297075"/>
            <a:ext cx="8073300" cy="14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ca" sz="7400">
                <a:solidFill>
                  <a:srgbClr val="CFE2F3"/>
                </a:solidFill>
              </a:rPr>
              <a:t>MÓN IMAGINARI</a:t>
            </a:r>
            <a:endParaRPr b="1" sz="7400">
              <a:solidFill>
                <a:srgbClr val="CFE2F3"/>
              </a:solidFill>
            </a:endParaRPr>
          </a:p>
        </p:txBody>
      </p:sp>
      <p:sp>
        <p:nvSpPr>
          <p:cNvPr id="68" name="Google Shape;68;p13"/>
          <p:cNvSpPr txBox="1"/>
          <p:nvPr/>
        </p:nvSpPr>
        <p:spPr>
          <a:xfrm>
            <a:off x="259650" y="4002600"/>
            <a:ext cx="8624700" cy="10110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lnSpc>
                <a:spcPct val="144000"/>
              </a:lnSpc>
              <a:spcBef>
                <a:spcPts val="0"/>
              </a:spcBef>
              <a:spcAft>
                <a:spcPts val="0"/>
              </a:spcAft>
              <a:buNone/>
            </a:pPr>
            <a:r>
              <a:rPr b="1" lang="ca" sz="2200">
                <a:solidFill>
                  <a:schemeClr val="dk1"/>
                </a:solidFill>
                <a:latin typeface="Playfair Display"/>
                <a:ea typeface="Playfair Display"/>
                <a:cs typeface="Playfair Display"/>
                <a:sym typeface="Playfair Display"/>
              </a:rPr>
              <a:t>Crear un món entre tota la classe seguint les mateixes lleis de la natura, però amb paisatges i ecosistemes imaginaris! </a:t>
            </a:r>
            <a:endParaRPr b="1" sz="2200">
              <a:solidFill>
                <a:schemeClr val="dk1"/>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72" name="Shape 72"/>
        <p:cNvGrpSpPr/>
        <p:nvPr/>
      </p:nvGrpSpPr>
      <p:grpSpPr>
        <a:xfrm>
          <a:off x="0" y="0"/>
          <a:ext cx="0" cy="0"/>
          <a:chOff x="0" y="0"/>
          <a:chExt cx="0" cy="0"/>
        </a:xfrm>
      </p:grpSpPr>
      <p:sp>
        <p:nvSpPr>
          <p:cNvPr id="73" name="Google Shape;73;p14"/>
          <p:cNvSpPr txBox="1"/>
          <p:nvPr/>
        </p:nvSpPr>
        <p:spPr>
          <a:xfrm>
            <a:off x="298450" y="255325"/>
            <a:ext cx="46227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4800">
                <a:solidFill>
                  <a:schemeClr val="dk1"/>
                </a:solidFill>
              </a:rPr>
              <a:t>EM PRESENTO</a:t>
            </a:r>
            <a:endParaRPr b="1" sz="4800">
              <a:solidFill>
                <a:schemeClr val="dk1"/>
              </a:solidFill>
            </a:endParaRPr>
          </a:p>
        </p:txBody>
      </p:sp>
      <p:sp>
        <p:nvSpPr>
          <p:cNvPr id="74" name="Google Shape;74;p14"/>
          <p:cNvSpPr/>
          <p:nvPr/>
        </p:nvSpPr>
        <p:spPr>
          <a:xfrm>
            <a:off x="403650" y="1297150"/>
            <a:ext cx="8160900" cy="355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ca" sz="1800"/>
              <a:t>Jo crec que aquest projecte estudiarem i aprendrem les coordenades dels mapes, els climes, les plaques tectòniques… En general, els diferents paisatges, com s’han creat… D’aquest projecte no tinc cap informació i començo de zero. Això crec que m’ajudarà a conèixer noves coses i a expandir el meu coneixement. Durant aquests dies no he après moltes coses, tot i que m’he endinsat en el projecte. Aquest projecte em servirà per aprendre moltes més coses i crec que aquest projecte em </a:t>
            </a:r>
            <a:r>
              <a:rPr lang="ca" sz="1800"/>
              <a:t>motiva</a:t>
            </a:r>
            <a:r>
              <a:rPr lang="ca" sz="1800"/>
              <a:t>.</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78" name="Shape 78"/>
        <p:cNvGrpSpPr/>
        <p:nvPr/>
      </p:nvGrpSpPr>
      <p:grpSpPr>
        <a:xfrm>
          <a:off x="0" y="0"/>
          <a:ext cx="0" cy="0"/>
          <a:chOff x="0" y="0"/>
          <a:chExt cx="0" cy="0"/>
        </a:xfrm>
      </p:grpSpPr>
      <p:sp>
        <p:nvSpPr>
          <p:cNvPr id="79" name="Google Shape;79;p15"/>
          <p:cNvSpPr txBox="1"/>
          <p:nvPr/>
        </p:nvSpPr>
        <p:spPr>
          <a:xfrm>
            <a:off x="298450" y="255325"/>
            <a:ext cx="77145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4800">
                <a:solidFill>
                  <a:schemeClr val="dk1"/>
                </a:solidFill>
              </a:rPr>
              <a:t>MAPES I COORDENADES</a:t>
            </a:r>
            <a:endParaRPr b="1" sz="4800">
              <a:solidFill>
                <a:schemeClr val="dk1"/>
              </a:solidFill>
            </a:endParaRPr>
          </a:p>
        </p:txBody>
      </p:sp>
      <p:sp>
        <p:nvSpPr>
          <p:cNvPr id="80" name="Google Shape;80;p15"/>
          <p:cNvSpPr/>
          <p:nvPr/>
        </p:nvSpPr>
        <p:spPr>
          <a:xfrm>
            <a:off x="27750" y="1241050"/>
            <a:ext cx="5855700" cy="374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sz="1600">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r>
              <a:rPr lang="ca" sz="1600">
                <a:solidFill>
                  <a:schemeClr val="dk1"/>
                </a:solidFill>
                <a:latin typeface="Verdana"/>
                <a:ea typeface="Verdana"/>
                <a:cs typeface="Verdana"/>
                <a:sym typeface="Verdana"/>
              </a:rPr>
              <a:t>Aquests dies he après molt de contingut. En primer lloc, he sabut indicar i entendre com es diuen les línies divisòries (paral·lels i meridians), amb això he pogut saber com informar els llocs de tot el planeta amb coordenades. A part d’això ara ja sé les línies principals (l’equador i el meridià zero), també sé les línies secundàries. A continuació també sé distingir els diferents tipus de mapes (polítics, temàtics i físics). Un altre punt que també he après és saber que el GPS </a:t>
            </a:r>
            <a:r>
              <a:rPr lang="ca" sz="1600">
                <a:solidFill>
                  <a:schemeClr val="dk1"/>
                </a:solidFill>
                <a:latin typeface="Verdana"/>
                <a:ea typeface="Verdana"/>
                <a:cs typeface="Verdana"/>
                <a:sym typeface="Verdana"/>
              </a:rPr>
              <a:t>necesita</a:t>
            </a:r>
            <a:r>
              <a:rPr lang="ca" sz="1600">
                <a:solidFill>
                  <a:schemeClr val="dk1"/>
                </a:solidFill>
                <a:latin typeface="Verdana"/>
                <a:ea typeface="Verdana"/>
                <a:cs typeface="Verdana"/>
                <a:sym typeface="Verdana"/>
              </a:rPr>
              <a:t> les </a:t>
            </a:r>
            <a:r>
              <a:rPr lang="ca" sz="1600">
                <a:solidFill>
                  <a:schemeClr val="dk1"/>
                </a:solidFill>
                <a:latin typeface="Verdana"/>
                <a:ea typeface="Verdana"/>
                <a:cs typeface="Verdana"/>
                <a:sym typeface="Verdana"/>
              </a:rPr>
              <a:t>línies</a:t>
            </a:r>
            <a:r>
              <a:rPr lang="ca" sz="1600">
                <a:solidFill>
                  <a:schemeClr val="dk1"/>
                </a:solidFill>
                <a:latin typeface="Verdana"/>
                <a:ea typeface="Verdana"/>
                <a:cs typeface="Verdana"/>
                <a:sym typeface="Verdana"/>
              </a:rPr>
              <a:t> </a:t>
            </a:r>
            <a:r>
              <a:rPr lang="ca" sz="1600">
                <a:solidFill>
                  <a:schemeClr val="dk1"/>
                </a:solidFill>
                <a:latin typeface="Verdana"/>
                <a:ea typeface="Verdana"/>
                <a:cs typeface="Verdana"/>
                <a:sym typeface="Verdana"/>
              </a:rPr>
              <a:t>imaginàries</a:t>
            </a:r>
            <a:r>
              <a:rPr lang="ca" sz="1600">
                <a:solidFill>
                  <a:schemeClr val="dk1"/>
                </a:solidFill>
                <a:latin typeface="Verdana"/>
                <a:ea typeface="Verdana"/>
                <a:cs typeface="Verdana"/>
                <a:sym typeface="Verdana"/>
              </a:rPr>
              <a:t> per poder indicar la posició exacta de </a:t>
            </a:r>
            <a:r>
              <a:rPr lang="ca" sz="1600">
                <a:solidFill>
                  <a:schemeClr val="dk1"/>
                </a:solidFill>
                <a:latin typeface="Verdana"/>
                <a:ea typeface="Verdana"/>
                <a:cs typeface="Verdana"/>
                <a:sym typeface="Verdana"/>
              </a:rPr>
              <a:t>qualsevol</a:t>
            </a:r>
            <a:r>
              <a:rPr lang="ca" sz="1600">
                <a:solidFill>
                  <a:schemeClr val="dk1"/>
                </a:solidFill>
                <a:latin typeface="Verdana"/>
                <a:ea typeface="Verdana"/>
                <a:cs typeface="Verdana"/>
                <a:sym typeface="Verdana"/>
              </a:rPr>
              <a:t> punt de la Terra.En conclusió, he adquirit nous aprenentatges, principalment, les coordenades i els mapes en general.</a:t>
            </a:r>
            <a:endParaRPr sz="1600">
              <a:solidFill>
                <a:schemeClr val="dk1"/>
              </a:solidFill>
              <a:latin typeface="Verdana"/>
              <a:ea typeface="Verdana"/>
              <a:cs typeface="Verdana"/>
              <a:sym typeface="Verdana"/>
            </a:endParaRPr>
          </a:p>
          <a:p>
            <a:pPr indent="0" lvl="0" marL="0" rtl="0" algn="ctr">
              <a:spcBef>
                <a:spcPts val="1200"/>
              </a:spcBef>
              <a:spcAft>
                <a:spcPts val="0"/>
              </a:spcAft>
              <a:buNone/>
            </a:pPr>
            <a:r>
              <a:t/>
            </a:r>
            <a:endParaRPr sz="1700">
              <a:solidFill>
                <a:schemeClr val="dk1"/>
              </a:solidFill>
              <a:latin typeface="Verdana"/>
              <a:ea typeface="Verdana"/>
              <a:cs typeface="Verdana"/>
              <a:sym typeface="Verdana"/>
            </a:endParaRPr>
          </a:p>
        </p:txBody>
      </p:sp>
      <p:pic>
        <p:nvPicPr>
          <p:cNvPr id="81" name="Google Shape;81;p15"/>
          <p:cNvPicPr preferRelativeResize="0"/>
          <p:nvPr/>
        </p:nvPicPr>
        <p:blipFill rotWithShape="1">
          <a:blip r:embed="rId3">
            <a:alphaModFix/>
          </a:blip>
          <a:srcRect b="0" l="0" r="0" t="10250"/>
          <a:stretch/>
        </p:blipFill>
        <p:spPr>
          <a:xfrm>
            <a:off x="5934050" y="1315826"/>
            <a:ext cx="3015651" cy="1848474"/>
          </a:xfrm>
          <a:prstGeom prst="rect">
            <a:avLst/>
          </a:prstGeom>
          <a:noFill/>
          <a:ln>
            <a:noFill/>
          </a:ln>
        </p:spPr>
      </p:pic>
      <p:pic>
        <p:nvPicPr>
          <p:cNvPr id="82" name="Google Shape;82;p15"/>
          <p:cNvPicPr preferRelativeResize="0"/>
          <p:nvPr/>
        </p:nvPicPr>
        <p:blipFill>
          <a:blip r:embed="rId4">
            <a:alphaModFix/>
          </a:blip>
          <a:stretch>
            <a:fillRect/>
          </a:stretch>
        </p:blipFill>
        <p:spPr>
          <a:xfrm>
            <a:off x="5934050" y="3204781"/>
            <a:ext cx="3015651" cy="16968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86" name="Shape 86"/>
        <p:cNvGrpSpPr/>
        <p:nvPr/>
      </p:nvGrpSpPr>
      <p:grpSpPr>
        <a:xfrm>
          <a:off x="0" y="0"/>
          <a:ext cx="0" cy="0"/>
          <a:chOff x="0" y="0"/>
          <a:chExt cx="0" cy="0"/>
        </a:xfrm>
      </p:grpSpPr>
      <p:sp>
        <p:nvSpPr>
          <p:cNvPr id="87" name="Google Shape;87;p16"/>
          <p:cNvSpPr txBox="1"/>
          <p:nvPr/>
        </p:nvSpPr>
        <p:spPr>
          <a:xfrm>
            <a:off x="433025" y="147550"/>
            <a:ext cx="8376600" cy="7284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LA FORMACIÓ DEL CONTINENTS</a:t>
            </a:r>
            <a:endParaRPr b="1" sz="3700">
              <a:solidFill>
                <a:schemeClr val="dk1"/>
              </a:solidFill>
            </a:endParaRPr>
          </a:p>
        </p:txBody>
      </p:sp>
      <p:pic>
        <p:nvPicPr>
          <p:cNvPr descr="¿Alguna vez te has preguntado por qué algunos continentes, como América del Sur y África, parecen encajar como piezas de un rompecabezas? Si lo hiciste, no eres el único. El geólogo, Alfred Wegener, también se dio cuenta de esto y, en 1912, propuso la idea de que los continentes se movían y que quizás alguna vez todos estuvieron juntos. Pero ¿realmente se mueven los continentes?&#10;________________________________________________________________&#10;Fuentes:&#10;-https://www.britannica.com/science/plate-tectonics/Seafloor-spreading&#10;-https://www.britannica.com/science/plate-tectonics/Evidence-supporting-the-hypothesis&#10;-https://www.livescience.com/37706-what-is-plate-tectonics.html&#10;-https://www.britannica.com/story/spotting-a-supercontinent-how-pangea-was-discovered&#10;-https://solarsystem.nasa.gov/planets/earth/in-depth/#:~:text=Earth%20is%20composed%20of%20four,(1%2C221%20kilometers)%20in%20radius.&#10;-https://oceanexplorer.noaa.gov/facts/tectonic-features.html&#10;-https://www.geolsoc.org.uk/Plate-Tectonics/Chap2-What-is-a-Plate#:~:text=The%20surface%20of%20the%20Earth%20is%20divided%20into%207%20major,maximum%20thickness%20below%20mountain%20ranges.&#10;-https://ugc.berkeley.edu/background-content/plate-tectonics/&#10;-https://oceanservice.noaa.gov/facts/tectonics.html#:~:text=That%27s%20because%20it%20did%2C%20millions,rate%20that%20human%20toenails%20grow!&#10;-https://volcano.oregonstate.edu/pangaea-present-lesson-2&#10;-https://www.livescience.com/63753-will-there-be-another-pangea.html#:~:text=But%20the%20constant%20movement%20of,Related%3A%20What%20Is%20Plate%20Tectonics%3F&#10;____________________________________________________&#10;&#10;Entérate de más&#10;www.enterarse.com&#10;&#10;- Síguenos -&#10;&#10;YouTube&#10;https://www.youtube.com/enterarse&#10;Facebook&#10;https://www.facebook.com/EnterarseNTR/&#10;Instagram&#10;https://www.instagram.com/enterarsentr/&#10;Twitter&#10;https://twitter.com/enterarsentr&#10;Spotify&#10;https://open.spotify.com/show/3VafQo051TawbYVu2KTim6?si=hp_4SGyrTZS0odGf4mz5fQ&amp;nd=1" id="88" name="Google Shape;88;p16" title="Placas tectónicas: ¿Por qué se mueven los continentes?">
            <a:hlinkClick r:id="rId3"/>
          </p:cNvPr>
          <p:cNvPicPr preferRelativeResize="0"/>
          <p:nvPr/>
        </p:nvPicPr>
        <p:blipFill>
          <a:blip r:embed="rId4">
            <a:alphaModFix/>
          </a:blip>
          <a:stretch>
            <a:fillRect/>
          </a:stretch>
        </p:blipFill>
        <p:spPr>
          <a:xfrm>
            <a:off x="6636350" y="3142025"/>
            <a:ext cx="2173275" cy="1696300"/>
          </a:xfrm>
          <a:prstGeom prst="rect">
            <a:avLst/>
          </a:prstGeom>
          <a:noFill/>
          <a:ln>
            <a:noFill/>
          </a:ln>
        </p:spPr>
      </p:pic>
      <p:sp>
        <p:nvSpPr>
          <p:cNvPr id="89" name="Google Shape;89;p16"/>
          <p:cNvSpPr/>
          <p:nvPr/>
        </p:nvSpPr>
        <p:spPr>
          <a:xfrm>
            <a:off x="90125" y="1091400"/>
            <a:ext cx="6417000" cy="395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PLAQUES TECTÒNIQUES: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Les plaques tectòniques són les separacions de la terra. Les plaques s’han originat gràcies als corrents de convecció del mantell. Aquests corrents es produeixen perquè el material calent de l’interior de la Terra puja cap amunt i el material més fred baixa. Aquest moviment arrossega les plaques tectòniques i fa que es desplacin. Les plaques tectòniques poden fer diferents moviments: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-Convergents (quan xoquen)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-Divergents (quan s’allunyen)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-Transformants (quan es rosen)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A part d’això les plaques tectòniques tenen dos tipus d’escorça: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-L’escorça continental (continents)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-L’escorça oceànica ( mar i oceans)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sz="1100">
                <a:solidFill>
                  <a:schemeClr val="dk1"/>
                </a:solidFill>
              </a:rPr>
              <a:t>(cada placa provoca relleus diferents. Illes, serralades, volcans, terratrèmols, tsunamis…).</a:t>
            </a:r>
            <a:endParaRPr sz="1100">
              <a:solidFill>
                <a:schemeClr val="dk1"/>
              </a:solidFill>
            </a:endParaRPr>
          </a:p>
          <a:p>
            <a:pPr indent="0" lvl="0" marL="0" rtl="0" algn="ctr">
              <a:spcBef>
                <a:spcPts val="1200"/>
              </a:spcBef>
              <a:spcAft>
                <a:spcPts val="0"/>
              </a:spcAft>
              <a:buNone/>
            </a:pPr>
            <a:r>
              <a:t/>
            </a:r>
            <a:endParaRPr sz="1200"/>
          </a:p>
        </p:txBody>
      </p:sp>
      <p:pic>
        <p:nvPicPr>
          <p:cNvPr id="90" name="Google Shape;90;p16"/>
          <p:cNvPicPr preferRelativeResize="0"/>
          <p:nvPr/>
        </p:nvPicPr>
        <p:blipFill>
          <a:blip r:embed="rId5">
            <a:alphaModFix/>
          </a:blip>
          <a:stretch>
            <a:fillRect/>
          </a:stretch>
        </p:blipFill>
        <p:spPr>
          <a:xfrm>
            <a:off x="6636350" y="1332500"/>
            <a:ext cx="2173271" cy="1696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94" name="Shape 94"/>
        <p:cNvGrpSpPr/>
        <p:nvPr/>
      </p:nvGrpSpPr>
      <p:grpSpPr>
        <a:xfrm>
          <a:off x="0" y="0"/>
          <a:ext cx="0" cy="0"/>
          <a:chOff x="0" y="0"/>
          <a:chExt cx="0" cy="0"/>
        </a:xfrm>
      </p:grpSpPr>
      <p:sp>
        <p:nvSpPr>
          <p:cNvPr id="95" name="Google Shape;95;p17"/>
          <p:cNvSpPr txBox="1"/>
          <p:nvPr/>
        </p:nvSpPr>
        <p:spPr>
          <a:xfrm>
            <a:off x="5890025" y="1159975"/>
            <a:ext cx="1851900" cy="675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6" name="Google Shape;96;p17"/>
          <p:cNvSpPr txBox="1"/>
          <p:nvPr/>
        </p:nvSpPr>
        <p:spPr>
          <a:xfrm>
            <a:off x="433025" y="147550"/>
            <a:ext cx="8376600" cy="7284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LA FORMACIÓ DEL CONTINENTS</a:t>
            </a:r>
            <a:endParaRPr b="1" sz="3700">
              <a:solidFill>
                <a:schemeClr val="dk1"/>
              </a:solidFill>
            </a:endParaRPr>
          </a:p>
        </p:txBody>
      </p:sp>
      <p:sp>
        <p:nvSpPr>
          <p:cNvPr id="97" name="Google Shape;97;p17"/>
          <p:cNvSpPr/>
          <p:nvPr/>
        </p:nvSpPr>
        <p:spPr>
          <a:xfrm>
            <a:off x="433025" y="1257950"/>
            <a:ext cx="5358900" cy="338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ca" sz="1100"/>
              <a:t>MOVIMENTS DE CONVECCIÓ DEL MANTELL</a:t>
            </a:r>
            <a:endParaRPr sz="1100"/>
          </a:p>
          <a:p>
            <a:pPr indent="0" lvl="0" marL="0" rtl="0" algn="l">
              <a:lnSpc>
                <a:spcPct val="115000"/>
              </a:lnSpc>
              <a:spcBef>
                <a:spcPts val="1200"/>
              </a:spcBef>
              <a:spcAft>
                <a:spcPts val="0"/>
              </a:spcAft>
              <a:buNone/>
            </a:pPr>
            <a:r>
              <a:rPr lang="ca" sz="1100"/>
              <a:t>Com ja he dit abans les plaques </a:t>
            </a:r>
            <a:r>
              <a:rPr lang="ca" sz="1100"/>
              <a:t>tectòniques</a:t>
            </a:r>
            <a:r>
              <a:rPr lang="ca" sz="1100"/>
              <a:t> es formen gracies als moviments que es fan a </a:t>
            </a:r>
            <a:r>
              <a:rPr lang="ca" sz="1100"/>
              <a:t>l'interior</a:t>
            </a:r>
            <a:r>
              <a:rPr lang="ca" sz="1100"/>
              <a:t> de la terra. Per saber això primer vaig aprendre com era la Terra per dins.</a:t>
            </a:r>
            <a:endParaRPr sz="1100"/>
          </a:p>
          <a:p>
            <a:pPr indent="0" lvl="0" marL="0" rtl="0" algn="l">
              <a:lnSpc>
                <a:spcPct val="115000"/>
              </a:lnSpc>
              <a:spcBef>
                <a:spcPts val="1200"/>
              </a:spcBef>
              <a:spcAft>
                <a:spcPts val="0"/>
              </a:spcAft>
              <a:buNone/>
            </a:pPr>
            <a:r>
              <a:rPr lang="ca" sz="1100"/>
              <a:t>Es ha dir la Terra està </a:t>
            </a:r>
            <a:r>
              <a:rPr lang="ca" sz="1100"/>
              <a:t>formada per</a:t>
            </a:r>
            <a:r>
              <a:rPr lang="ca" sz="1100"/>
              <a:t> diferents tipus de roques que divideixen l'interior de la Terra en tres capes: l'escorça, el mantell i el nucli. El nucli escalfa les roques del mantell i això origina grans moviments de roques, aquets moviments són els de convecció del mantell. </a:t>
            </a:r>
            <a:r>
              <a:rPr lang="ca" sz="1100"/>
              <a:t>Aquests</a:t>
            </a:r>
            <a:r>
              <a:rPr lang="ca" sz="1100"/>
              <a:t> </a:t>
            </a:r>
            <a:r>
              <a:rPr lang="ca" sz="1100"/>
              <a:t>moviments</a:t>
            </a:r>
            <a:r>
              <a:rPr lang="ca" sz="1100"/>
              <a:t> son constants i provoquen fractures a l’escorça, originant les plaques tectóniques.Els </a:t>
            </a:r>
            <a:r>
              <a:rPr lang="ca" sz="1100"/>
              <a:t>moviments</a:t>
            </a:r>
            <a:r>
              <a:rPr lang="ca" sz="1100"/>
              <a:t> que fa son circulars es a dir. El nucli escalfa les roques del mantell, això fa que les roque pugin, les roques es van </a:t>
            </a:r>
            <a:r>
              <a:rPr lang="ca" sz="1100"/>
              <a:t>refredant</a:t>
            </a:r>
            <a:r>
              <a:rPr lang="ca" sz="1100"/>
              <a:t>, quan es </a:t>
            </a:r>
            <a:r>
              <a:rPr lang="ca" sz="1100"/>
              <a:t>refreden</a:t>
            </a:r>
            <a:r>
              <a:rPr lang="ca" sz="1100"/>
              <a:t> del tot tornen a </a:t>
            </a:r>
            <a:r>
              <a:rPr lang="ca" sz="1100"/>
              <a:t>baixar</a:t>
            </a:r>
            <a:r>
              <a:rPr lang="ca" sz="1100"/>
              <a:t>… així </a:t>
            </a:r>
            <a:r>
              <a:rPr lang="ca" sz="1100"/>
              <a:t>constant</a:t>
            </a:r>
            <a:r>
              <a:rPr lang="ca" sz="1100"/>
              <a:t> ment. </a:t>
            </a:r>
            <a:r>
              <a:rPr lang="ca" sz="1100"/>
              <a:t>Això</a:t>
            </a:r>
            <a:r>
              <a:rPr lang="ca" sz="1100"/>
              <a:t> </a:t>
            </a:r>
            <a:r>
              <a:rPr lang="ca" sz="1100"/>
              <a:t>provoca</a:t>
            </a:r>
            <a:r>
              <a:rPr lang="ca" sz="1100"/>
              <a:t> que es vagi </a:t>
            </a:r>
            <a:r>
              <a:rPr lang="ca" sz="1100"/>
              <a:t>a foradant</a:t>
            </a:r>
            <a:r>
              <a:rPr lang="ca" sz="1100"/>
              <a:t> l’escorça i que </a:t>
            </a:r>
            <a:r>
              <a:rPr lang="ca" sz="1100"/>
              <a:t>originin</a:t>
            </a:r>
            <a:r>
              <a:rPr lang="ca" sz="1100"/>
              <a:t> les plaques tectóniques. (</a:t>
            </a:r>
            <a:r>
              <a:rPr lang="ca" sz="1100"/>
              <a:t>Aquests</a:t>
            </a:r>
            <a:r>
              <a:rPr lang="ca" sz="1100"/>
              <a:t> moviments són semblants als de un globus.)</a:t>
            </a:r>
            <a:endParaRPr sz="1100"/>
          </a:p>
          <a:p>
            <a:pPr indent="0" lvl="0" marL="0" rtl="0" algn="l">
              <a:lnSpc>
                <a:spcPct val="115000"/>
              </a:lnSpc>
              <a:spcBef>
                <a:spcPts val="1200"/>
              </a:spcBef>
              <a:spcAft>
                <a:spcPts val="0"/>
              </a:spcAft>
              <a:buNone/>
            </a:pPr>
            <a:r>
              <a:t/>
            </a:r>
            <a:endParaRPr sz="1100"/>
          </a:p>
          <a:p>
            <a:pPr indent="0" lvl="0" marL="0" rtl="0" algn="ctr">
              <a:spcBef>
                <a:spcPts val="1200"/>
              </a:spcBef>
              <a:spcAft>
                <a:spcPts val="0"/>
              </a:spcAft>
              <a:buNone/>
            </a:pPr>
            <a:r>
              <a:t/>
            </a:r>
            <a:endParaRPr/>
          </a:p>
        </p:txBody>
      </p:sp>
      <p:cxnSp>
        <p:nvCxnSpPr>
          <p:cNvPr id="98" name="Google Shape;98;p17"/>
          <p:cNvCxnSpPr>
            <a:endCxn id="99" idx="1"/>
          </p:cNvCxnSpPr>
          <p:nvPr/>
        </p:nvCxnSpPr>
        <p:spPr>
          <a:xfrm flipH="1" rot="10800000">
            <a:off x="1152425" y="2073837"/>
            <a:ext cx="4737600" cy="8400"/>
          </a:xfrm>
          <a:prstGeom prst="straightConnector1">
            <a:avLst/>
          </a:prstGeom>
          <a:noFill/>
          <a:ln cap="flat" cmpd="sng" w="38100">
            <a:solidFill>
              <a:schemeClr val="dk2"/>
            </a:solidFill>
            <a:prstDash val="solid"/>
            <a:round/>
            <a:headEnd len="med" w="med" type="none"/>
            <a:tailEnd len="med" w="med" type="none"/>
          </a:ln>
        </p:spPr>
      </p:cxnSp>
      <p:pic>
        <p:nvPicPr>
          <p:cNvPr id="100" name="Google Shape;100;p17"/>
          <p:cNvPicPr preferRelativeResize="0"/>
          <p:nvPr/>
        </p:nvPicPr>
        <p:blipFill>
          <a:blip r:embed="rId3">
            <a:alphaModFix/>
          </a:blip>
          <a:stretch>
            <a:fillRect/>
          </a:stretch>
        </p:blipFill>
        <p:spPr>
          <a:xfrm>
            <a:off x="7267300" y="1160725"/>
            <a:ext cx="1606750" cy="1606750"/>
          </a:xfrm>
          <a:prstGeom prst="rect">
            <a:avLst/>
          </a:prstGeom>
          <a:noFill/>
          <a:ln>
            <a:noFill/>
          </a:ln>
        </p:spPr>
      </p:pic>
      <p:pic>
        <p:nvPicPr>
          <p:cNvPr id="99" name="Google Shape;99;p17"/>
          <p:cNvPicPr preferRelativeResize="0"/>
          <p:nvPr/>
        </p:nvPicPr>
        <p:blipFill rotWithShape="1">
          <a:blip r:embed="rId4">
            <a:alphaModFix/>
          </a:blip>
          <a:srcRect b="3809" l="0" r="0" t="0"/>
          <a:stretch/>
        </p:blipFill>
        <p:spPr>
          <a:xfrm>
            <a:off x="5890025" y="1380200"/>
            <a:ext cx="1442175" cy="1387275"/>
          </a:xfrm>
          <a:prstGeom prst="rect">
            <a:avLst/>
          </a:prstGeom>
          <a:noFill/>
          <a:ln>
            <a:noFill/>
          </a:ln>
        </p:spPr>
      </p:pic>
      <p:pic>
        <p:nvPicPr>
          <p:cNvPr descr="Para preparar Actividade interna Terra 2º ESO.&#10;Fragmento de Los volcanes: el poder del fuego. BBC 2008" id="101" name="Google Shape;101;p17" title="correntes convectivas do manto">
            <a:hlinkClick r:id="rId5"/>
          </p:cNvPr>
          <p:cNvPicPr preferRelativeResize="0"/>
          <p:nvPr/>
        </p:nvPicPr>
        <p:blipFill>
          <a:blip r:embed="rId6">
            <a:alphaModFix/>
          </a:blip>
          <a:stretch>
            <a:fillRect/>
          </a:stretch>
        </p:blipFill>
        <p:spPr>
          <a:xfrm>
            <a:off x="5899825" y="2944725"/>
            <a:ext cx="2974225" cy="1548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05" name="Shape 105"/>
        <p:cNvGrpSpPr/>
        <p:nvPr/>
      </p:nvGrpSpPr>
      <p:grpSpPr>
        <a:xfrm>
          <a:off x="0" y="0"/>
          <a:ext cx="0" cy="0"/>
          <a:chOff x="0" y="0"/>
          <a:chExt cx="0" cy="0"/>
        </a:xfrm>
      </p:grpSpPr>
      <p:sp>
        <p:nvSpPr>
          <p:cNvPr id="106" name="Google Shape;106;p18"/>
          <p:cNvSpPr txBox="1"/>
          <p:nvPr/>
        </p:nvSpPr>
        <p:spPr>
          <a:xfrm>
            <a:off x="334575" y="134875"/>
            <a:ext cx="78795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LA FORMACIÓ DEL CONTINENTS</a:t>
            </a:r>
            <a:endParaRPr b="1" sz="3700">
              <a:solidFill>
                <a:schemeClr val="dk1"/>
              </a:solidFill>
            </a:endParaRPr>
          </a:p>
        </p:txBody>
      </p:sp>
      <p:sp>
        <p:nvSpPr>
          <p:cNvPr id="107" name="Google Shape;107;p18"/>
          <p:cNvSpPr/>
          <p:nvPr/>
        </p:nvSpPr>
        <p:spPr>
          <a:xfrm>
            <a:off x="158725" y="3327900"/>
            <a:ext cx="5760600" cy="169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br>
              <a:rPr b="1" lang="ca" sz="1100">
                <a:solidFill>
                  <a:schemeClr val="dk1"/>
                </a:solidFill>
                <a:latin typeface="Verdana"/>
                <a:ea typeface="Verdana"/>
                <a:cs typeface="Verdana"/>
                <a:sym typeface="Verdana"/>
              </a:rPr>
            </a:br>
            <a:endParaRPr b="1" sz="1100">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r>
              <a:rPr lang="ca">
                <a:solidFill>
                  <a:schemeClr val="dk1"/>
                </a:solidFill>
                <a:latin typeface="Verdana"/>
                <a:ea typeface="Verdana"/>
                <a:cs typeface="Verdana"/>
                <a:sym typeface="Verdana"/>
              </a:rPr>
              <a:t>REFLEXIÓ:</a:t>
            </a:r>
            <a:endParaRPr>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r>
              <a:rPr lang="ca">
                <a:solidFill>
                  <a:schemeClr val="dk1"/>
                </a:solidFill>
                <a:latin typeface="Verdana"/>
                <a:ea typeface="Verdana"/>
                <a:cs typeface="Verdana"/>
                <a:sym typeface="Verdana"/>
              </a:rPr>
              <a:t>El que em va costar més va ser entendre com es </a:t>
            </a:r>
            <a:r>
              <a:rPr lang="ca">
                <a:solidFill>
                  <a:schemeClr val="dk1"/>
                </a:solidFill>
                <a:latin typeface="Verdana"/>
                <a:ea typeface="Verdana"/>
                <a:cs typeface="Verdana"/>
                <a:sym typeface="Verdana"/>
              </a:rPr>
              <a:t>produeix</a:t>
            </a:r>
            <a:r>
              <a:rPr lang="ca">
                <a:solidFill>
                  <a:schemeClr val="dk1"/>
                </a:solidFill>
                <a:latin typeface="Verdana"/>
                <a:ea typeface="Verdana"/>
                <a:cs typeface="Verdana"/>
                <a:sym typeface="Verdana"/>
              </a:rPr>
              <a:t> els moviments de </a:t>
            </a:r>
            <a:r>
              <a:rPr lang="ca">
                <a:solidFill>
                  <a:schemeClr val="dk1"/>
                </a:solidFill>
                <a:latin typeface="Verdana"/>
                <a:ea typeface="Verdana"/>
                <a:cs typeface="Verdana"/>
                <a:sym typeface="Verdana"/>
              </a:rPr>
              <a:t>convecció</a:t>
            </a:r>
            <a:r>
              <a:rPr lang="ca">
                <a:solidFill>
                  <a:schemeClr val="dk1"/>
                </a:solidFill>
                <a:latin typeface="Verdana"/>
                <a:ea typeface="Verdana"/>
                <a:cs typeface="Verdana"/>
                <a:sym typeface="Verdana"/>
              </a:rPr>
              <a:t> del </a:t>
            </a:r>
            <a:r>
              <a:rPr lang="ca">
                <a:solidFill>
                  <a:schemeClr val="dk1"/>
                </a:solidFill>
                <a:latin typeface="Verdana"/>
                <a:ea typeface="Verdana"/>
                <a:cs typeface="Verdana"/>
                <a:sym typeface="Verdana"/>
              </a:rPr>
              <a:t>mantell</a:t>
            </a:r>
            <a:r>
              <a:rPr lang="ca">
                <a:solidFill>
                  <a:schemeClr val="dk1"/>
                </a:solidFill>
                <a:latin typeface="Verdana"/>
                <a:ea typeface="Verdana"/>
                <a:cs typeface="Verdana"/>
                <a:sym typeface="Verdana"/>
              </a:rPr>
              <a:t>. Ara ja ho entenc i ho sé explicar tot i que m’ha costat. El que m’ha sorprès és que les plaques tectòniques encara es mouen i potser en un futur molt llunyà els continents es xocaran.</a:t>
            </a:r>
            <a:endParaRPr>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br>
              <a:rPr b="1" lang="ca" sz="1100">
                <a:solidFill>
                  <a:schemeClr val="dk1"/>
                </a:solidFill>
                <a:latin typeface="Verdana"/>
                <a:ea typeface="Verdana"/>
                <a:cs typeface="Verdana"/>
                <a:sym typeface="Verdana"/>
              </a:rPr>
            </a:br>
            <a:br>
              <a:rPr b="1" lang="ca" sz="1100">
                <a:solidFill>
                  <a:schemeClr val="dk1"/>
                </a:solidFill>
                <a:latin typeface="Verdana"/>
                <a:ea typeface="Verdana"/>
                <a:cs typeface="Verdana"/>
                <a:sym typeface="Verdana"/>
              </a:rPr>
            </a:br>
            <a:endParaRPr b="1" sz="1100">
              <a:solidFill>
                <a:schemeClr val="dk1"/>
              </a:solidFill>
              <a:latin typeface="Verdana"/>
              <a:ea typeface="Verdana"/>
              <a:cs typeface="Verdana"/>
              <a:sym typeface="Verdana"/>
            </a:endParaRPr>
          </a:p>
          <a:p>
            <a:pPr indent="0" lvl="0" marL="0" rtl="0" algn="ctr">
              <a:spcBef>
                <a:spcPts val="1200"/>
              </a:spcBef>
              <a:spcAft>
                <a:spcPts val="0"/>
              </a:spcAft>
              <a:buNone/>
            </a:pPr>
            <a:r>
              <a:t/>
            </a:r>
            <a:endParaRPr b="1" sz="1200">
              <a:solidFill>
                <a:schemeClr val="dk1"/>
              </a:solidFill>
              <a:latin typeface="Verdana"/>
              <a:ea typeface="Verdana"/>
              <a:cs typeface="Verdana"/>
              <a:sym typeface="Verdana"/>
            </a:endParaRPr>
          </a:p>
        </p:txBody>
      </p:sp>
      <p:sp>
        <p:nvSpPr>
          <p:cNvPr id="108" name="Google Shape;108;p18"/>
          <p:cNvSpPr/>
          <p:nvPr/>
        </p:nvSpPr>
        <p:spPr>
          <a:xfrm>
            <a:off x="119525" y="1119884"/>
            <a:ext cx="5799900" cy="217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r>
              <a:rPr lang="ca">
                <a:solidFill>
                  <a:schemeClr val="dk1"/>
                </a:solidFill>
              </a:rPr>
              <a:t>HISTÒRIA DELS CONTINENTS: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ca">
                <a:solidFill>
                  <a:schemeClr val="dk1"/>
                </a:solidFill>
              </a:rPr>
              <a:t>Quan es va formar la terra tots els continents estaven junts, això s’ha descobert gràcies a la troballa d’alguns fòssils en llocs completament diferents separats per un oceà i que era impossible que l’animal pogués nedar una distància tan llarga, també s’ha pogut verificar, ja que els continents encaixen entre si. Els continents s’han anat separant fins al lloc on estan ara que continuen separant, gràcies a les plaques tectòniques que es mouen.</a:t>
            </a:r>
            <a:endParaRPr>
              <a:solidFill>
                <a:schemeClr val="dk1"/>
              </a:solidFill>
            </a:endParaRPr>
          </a:p>
          <a:p>
            <a:pPr indent="0" lvl="0" marL="0" rtl="0" algn="ctr">
              <a:spcBef>
                <a:spcPts val="1200"/>
              </a:spcBef>
              <a:spcAft>
                <a:spcPts val="0"/>
              </a:spcAft>
              <a:buNone/>
            </a:pPr>
            <a:r>
              <a:t/>
            </a:r>
            <a:endParaRPr/>
          </a:p>
        </p:txBody>
      </p:sp>
      <p:pic>
        <p:nvPicPr>
          <p:cNvPr id="109" name="Google Shape;109;p18"/>
          <p:cNvPicPr preferRelativeResize="0"/>
          <p:nvPr/>
        </p:nvPicPr>
        <p:blipFill>
          <a:blip r:embed="rId3">
            <a:alphaModFix/>
          </a:blip>
          <a:stretch>
            <a:fillRect/>
          </a:stretch>
        </p:blipFill>
        <p:spPr>
          <a:xfrm>
            <a:off x="5987100" y="1187800"/>
            <a:ext cx="2752463" cy="1840326"/>
          </a:xfrm>
          <a:prstGeom prst="rect">
            <a:avLst/>
          </a:prstGeom>
          <a:noFill/>
          <a:ln>
            <a:noFill/>
          </a:ln>
        </p:spPr>
      </p:pic>
      <p:pic>
        <p:nvPicPr>
          <p:cNvPr descr="Conoce de manera didáctica y resumida la teoría de la tectónica de placas, las capas internas de la tierra, los tipos de límites de las placas: límites transformantes, límites divergentes y límites convergentes.&#10;&#10;✅ Más información:&#10;https://cerebralia.com/placas-tectonicas&#10;&#10;✅ Escucha tus canciones favoritas: &#10;👉 https://cerebralia.com/musica&#10;&#10;📢 Donaciones ❤️ &#10;https://buymeacoffee.com/cerebralia&#10;Proporcionamos recursos educativos gratuitos para incentivar el aprendizaje.&#10;&#10;❋ ❋ ❋ Encuentra más lecciones ❋ ❋ ❋ &#10;&#10;👉 ¿Cómo se forma un volcán? 🌋 &#10;https://youtu.be/ApCEe-mXV2U &#10;&#10;👉 ¿Qué daños pueden provocar las erupciones volcánicas? &#10;https://youtu.be/157GrMV_1iI&#10;&#10;👉 Los Tipos de Ondas Sísmicas&#10;https://youtu.be/liDnlvkr_k4&#10;&#10;👉 ¿Cómo se forma la nieve? ❄️&#10;https://youtu.be/7cwqqLkeHGo&#10;&#10;👉 ¿Cómo se forma el rayo? ⚡️&#10;https://youtu.be/kiXs910lS64&#10;&#10;👉 ¿Cómo se forma el granizo?&#10;https://www.youtube.com/watch?v=Unzbt1ia7iQ&#10;&#10;👉 ¿Cómo se forma el arcoíris? 🌈&#10;https://youtu.be/dSOLuGH2Ijs&#10;&#10;👉 El ciclo del agua 💧&#10;https://youtu.be/0id5AW-iTZo&#10;&#10;👉 ¿Cuál es la diferencia entre tiempo y clima?&#10;https://youtu.be/emPKer_pV14&#10;&#10;👉 ¿Cuál es la diferencia entre sismo, temblor y terremoto?&#10;https://youtu.be/DQK-MbZZW0Y&#10;&#10;👉 Cómo se pronostica el tiempo&#10;https://youtu.be/ZCDG5OZUYBM&#10;&#10;👉 Causas, Características y Tipos de Tsunamis&#10;https://youtu.be/enyLnMb6F1Y&#10;&#10;👉 ¿Qué es el efecto invernadero? ☀️&#10;https://youtu.be/T_1qiFgfpQY&#10;&#10;👉 ¿Cuáles son los gases de efecto invernadero?&#10;https://youtu.be/cgOgxmeT_mg&#10;&#10;👉 ¿Qué es el Riesgo de Desastres? &#10;https://youtu.be/ZFTTIVUuVeE&#10;&#10;&#10;Comparte este video 🙂 SUSCRÍBETE  a mi canal 👍 ¡Gracias! ❤️&#10;&#10;&#10;#Placas #Tectónicas #TectónicadePlacas #Tectónica #Corteza #Manto #Núcleo #LímitedePlacas #Transformantes #Divergentes #Convergentes #Subducción #Riesgo #Planeta #Tierra #Video #TectonicPlates #Volcano #Hazards #Peligro" id="110" name="Google Shape;110;p18" title="¿Por qué se mueven las placas tectónicas?">
            <a:hlinkClick r:id="rId4"/>
          </p:cNvPr>
          <p:cNvPicPr preferRelativeResize="0"/>
          <p:nvPr/>
        </p:nvPicPr>
        <p:blipFill>
          <a:blip r:embed="rId5">
            <a:alphaModFix/>
          </a:blip>
          <a:stretch>
            <a:fillRect/>
          </a:stretch>
        </p:blipFill>
        <p:spPr>
          <a:xfrm>
            <a:off x="5987100" y="3254275"/>
            <a:ext cx="2752475" cy="171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14" name="Shape 114"/>
        <p:cNvGrpSpPr/>
        <p:nvPr/>
      </p:nvGrpSpPr>
      <p:grpSpPr>
        <a:xfrm>
          <a:off x="0" y="0"/>
          <a:ext cx="0" cy="0"/>
          <a:chOff x="0" y="0"/>
          <a:chExt cx="0" cy="0"/>
        </a:xfrm>
      </p:grpSpPr>
      <p:sp>
        <p:nvSpPr>
          <p:cNvPr id="115" name="Google Shape;115;p19"/>
          <p:cNvSpPr txBox="1"/>
          <p:nvPr/>
        </p:nvSpPr>
        <p:spPr>
          <a:xfrm>
            <a:off x="334575" y="255325"/>
            <a:ext cx="34707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EL PAISATGE</a:t>
            </a:r>
            <a:endParaRPr b="1" sz="3700">
              <a:solidFill>
                <a:schemeClr val="dk1"/>
              </a:solidFill>
            </a:endParaRPr>
          </a:p>
        </p:txBody>
      </p:sp>
      <p:sp>
        <p:nvSpPr>
          <p:cNvPr id="116" name="Google Shape;116;p19"/>
          <p:cNvSpPr/>
          <p:nvPr/>
        </p:nvSpPr>
        <p:spPr>
          <a:xfrm>
            <a:off x="334575" y="2961450"/>
            <a:ext cx="5482500" cy="182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ca" sz="1300"/>
              <a:t>Aquests dies he après tots els noms dels diferents paisatges, tot i que ja tenia una mica d'informació pel fet d'haver estudiat això anys enrere. Això m’ha ajudat a repassar i a continuar aprenent nous elements dels paisatges i saber quin és quin. Tot i que encar no els tingui del tot intororitzats els diferents noms i saberlos distingirlos un de l’altre.</a:t>
            </a:r>
            <a:endParaRPr sz="1300"/>
          </a:p>
          <a:p>
            <a:pPr indent="0" lvl="0" marL="0" rtl="0" algn="l">
              <a:spcBef>
                <a:spcPts val="1200"/>
              </a:spcBef>
              <a:spcAft>
                <a:spcPts val="0"/>
              </a:spcAft>
              <a:buNone/>
            </a:pPr>
            <a:r>
              <a:t/>
            </a:r>
            <a:endParaRPr/>
          </a:p>
        </p:txBody>
      </p:sp>
      <p:sp>
        <p:nvSpPr>
          <p:cNvPr id="117" name="Google Shape;117;p19"/>
          <p:cNvSpPr/>
          <p:nvPr/>
        </p:nvSpPr>
        <p:spPr>
          <a:xfrm>
            <a:off x="334575" y="1525300"/>
            <a:ext cx="5482500" cy="12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ca"/>
              <a:t>També he descobert la hidrologia de la Terra. Les hidrosferes és el conjunt d’aigües que formen mars, rius… Això no tenia ni </a:t>
            </a:r>
            <a:r>
              <a:rPr lang="ca"/>
              <a:t>idea</a:t>
            </a:r>
            <a:r>
              <a:rPr lang="ca"/>
              <a:t>, però ara ja tinc una base que em podrà ajudar a entendre millor cara un futur aquest projecte.</a:t>
            </a:r>
            <a:endParaRPr/>
          </a:p>
        </p:txBody>
      </p:sp>
      <p:pic>
        <p:nvPicPr>
          <p:cNvPr descr="T'expliquem El Cicle integral de l'Aigua de forma dicàctica.&#10;Grupo Aguas de Valencia, compañía presidida por Eugenio Calabuig." id="118" name="Google Shape;118;p19" title="El Cicle integral de l'Aigua - Didàctica de l'aigua">
            <a:hlinkClick r:id="rId3"/>
          </p:cNvPr>
          <p:cNvPicPr preferRelativeResize="0"/>
          <p:nvPr/>
        </p:nvPicPr>
        <p:blipFill>
          <a:blip r:embed="rId4">
            <a:alphaModFix/>
          </a:blip>
          <a:stretch>
            <a:fillRect/>
          </a:stretch>
        </p:blipFill>
        <p:spPr>
          <a:xfrm>
            <a:off x="5981063" y="3014850"/>
            <a:ext cx="3048000" cy="1714500"/>
          </a:xfrm>
          <a:prstGeom prst="rect">
            <a:avLst/>
          </a:prstGeom>
          <a:noFill/>
          <a:ln>
            <a:noFill/>
          </a:ln>
        </p:spPr>
      </p:pic>
      <p:pic>
        <p:nvPicPr>
          <p:cNvPr id="119" name="Google Shape;119;p19"/>
          <p:cNvPicPr preferRelativeResize="0"/>
          <p:nvPr/>
        </p:nvPicPr>
        <p:blipFill rotWithShape="1">
          <a:blip r:embed="rId5">
            <a:alphaModFix/>
          </a:blip>
          <a:srcRect b="0" l="3636" r="50797" t="0"/>
          <a:stretch/>
        </p:blipFill>
        <p:spPr>
          <a:xfrm>
            <a:off x="6204250" y="107564"/>
            <a:ext cx="2236376" cy="1457036"/>
          </a:xfrm>
          <a:prstGeom prst="rect">
            <a:avLst/>
          </a:prstGeom>
          <a:noFill/>
          <a:ln>
            <a:noFill/>
          </a:ln>
        </p:spPr>
      </p:pic>
      <p:pic>
        <p:nvPicPr>
          <p:cNvPr id="120" name="Google Shape;120;p19"/>
          <p:cNvPicPr preferRelativeResize="0"/>
          <p:nvPr/>
        </p:nvPicPr>
        <p:blipFill rotWithShape="1">
          <a:blip r:embed="rId5">
            <a:alphaModFix/>
          </a:blip>
          <a:srcRect b="0" l="49118" r="4955" t="0"/>
          <a:stretch/>
        </p:blipFill>
        <p:spPr>
          <a:xfrm>
            <a:off x="6204250" y="1525299"/>
            <a:ext cx="2236376" cy="144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24" name="Shape 124"/>
        <p:cNvGrpSpPr/>
        <p:nvPr/>
      </p:nvGrpSpPr>
      <p:grpSpPr>
        <a:xfrm>
          <a:off x="0" y="0"/>
          <a:ext cx="0" cy="0"/>
          <a:chOff x="0" y="0"/>
          <a:chExt cx="0" cy="0"/>
        </a:xfrm>
      </p:grpSpPr>
      <p:sp>
        <p:nvSpPr>
          <p:cNvPr id="125" name="Google Shape;125;p20"/>
          <p:cNvSpPr txBox="1"/>
          <p:nvPr/>
        </p:nvSpPr>
        <p:spPr>
          <a:xfrm>
            <a:off x="334575" y="255325"/>
            <a:ext cx="70965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QUINS CLIMES HI HA AL MÓN </a:t>
            </a:r>
            <a:endParaRPr b="1" sz="3700">
              <a:solidFill>
                <a:schemeClr val="dk1"/>
              </a:solidFill>
            </a:endParaRPr>
          </a:p>
        </p:txBody>
      </p:sp>
      <p:sp>
        <p:nvSpPr>
          <p:cNvPr id="126" name="Google Shape;126;p20"/>
          <p:cNvSpPr/>
          <p:nvPr/>
        </p:nvSpPr>
        <p:spPr>
          <a:xfrm>
            <a:off x="334575" y="1327025"/>
            <a:ext cx="4276200" cy="192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ca"/>
              <a:t>En aquest aspecte he après quina és la diferència entre un clima i el temps. A part d’això també m’ha sorprès saber que la terra es divideix en tres zones (freda, </a:t>
            </a:r>
            <a:r>
              <a:rPr lang="ca"/>
              <a:t>temperada</a:t>
            </a:r>
            <a:r>
              <a:rPr lang="ca"/>
              <a:t>, càlida). També he après a interpretar climograma, on podem veure les temperatures i les precipitacions. També he après els diferents climes del món.</a:t>
            </a:r>
            <a:endParaRPr/>
          </a:p>
        </p:txBody>
      </p:sp>
      <p:sp>
        <p:nvSpPr>
          <p:cNvPr id="127" name="Google Shape;127;p20"/>
          <p:cNvSpPr/>
          <p:nvPr/>
        </p:nvSpPr>
        <p:spPr>
          <a:xfrm>
            <a:off x="396400" y="3433725"/>
            <a:ext cx="4276200" cy="145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ca"/>
              <a:t>En general he </a:t>
            </a:r>
            <a:r>
              <a:rPr lang="ca"/>
              <a:t>entès</a:t>
            </a:r>
            <a:r>
              <a:rPr lang="ca"/>
              <a:t> a la </a:t>
            </a:r>
            <a:r>
              <a:rPr lang="ca"/>
              <a:t>perfecció del</a:t>
            </a:r>
            <a:r>
              <a:rPr lang="ca"/>
              <a:t> tot el contingut, tot i que si </a:t>
            </a:r>
            <a:r>
              <a:rPr lang="ca"/>
              <a:t>volgués repassar</a:t>
            </a:r>
            <a:r>
              <a:rPr lang="ca"/>
              <a:t> algun </a:t>
            </a:r>
            <a:r>
              <a:rPr lang="ca"/>
              <a:t>aspecte</a:t>
            </a:r>
            <a:r>
              <a:rPr lang="ca"/>
              <a:t> voldria millorar la lectura dels climogrames i saber és els climes del món.  Aquesta setmana he après moltes coses i m’ha semblat molt </a:t>
            </a:r>
            <a:r>
              <a:rPr lang="ca"/>
              <a:t>interessant</a:t>
            </a:r>
            <a:r>
              <a:rPr lang="ca"/>
              <a:t>.</a:t>
            </a:r>
            <a:endParaRPr/>
          </a:p>
        </p:txBody>
      </p:sp>
      <p:pic>
        <p:nvPicPr>
          <p:cNvPr id="128" name="Google Shape;128;p20"/>
          <p:cNvPicPr preferRelativeResize="0"/>
          <p:nvPr/>
        </p:nvPicPr>
        <p:blipFill>
          <a:blip r:embed="rId3">
            <a:alphaModFix/>
          </a:blip>
          <a:stretch>
            <a:fillRect/>
          </a:stretch>
        </p:blipFill>
        <p:spPr>
          <a:xfrm>
            <a:off x="5565223" y="1327026"/>
            <a:ext cx="2499451" cy="1800149"/>
          </a:xfrm>
          <a:prstGeom prst="rect">
            <a:avLst/>
          </a:prstGeom>
          <a:noFill/>
          <a:ln>
            <a:noFill/>
          </a:ln>
        </p:spPr>
      </p:pic>
      <p:pic>
        <p:nvPicPr>
          <p:cNvPr id="129" name="Google Shape;129;p20"/>
          <p:cNvPicPr preferRelativeResize="0"/>
          <p:nvPr/>
        </p:nvPicPr>
        <p:blipFill>
          <a:blip r:embed="rId4">
            <a:alphaModFix/>
          </a:blip>
          <a:stretch>
            <a:fillRect/>
          </a:stretch>
        </p:blipFill>
        <p:spPr>
          <a:xfrm>
            <a:off x="5403555" y="3215950"/>
            <a:ext cx="2951070" cy="1800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33" name="Shape 133"/>
        <p:cNvGrpSpPr/>
        <p:nvPr/>
      </p:nvGrpSpPr>
      <p:grpSpPr>
        <a:xfrm>
          <a:off x="0" y="0"/>
          <a:ext cx="0" cy="0"/>
          <a:chOff x="0" y="0"/>
          <a:chExt cx="0" cy="0"/>
        </a:xfrm>
      </p:grpSpPr>
      <p:sp>
        <p:nvSpPr>
          <p:cNvPr id="134" name="Google Shape;134;p21"/>
          <p:cNvSpPr txBox="1"/>
          <p:nvPr/>
        </p:nvSpPr>
        <p:spPr>
          <a:xfrm>
            <a:off x="334575" y="255325"/>
            <a:ext cx="61449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VISITEM EL MUSEU BLAU</a:t>
            </a:r>
            <a:r>
              <a:rPr b="1" lang="ca" sz="3700">
                <a:solidFill>
                  <a:schemeClr val="dk1"/>
                </a:solidFill>
              </a:rPr>
              <a:t> </a:t>
            </a:r>
            <a:endParaRPr b="1" sz="3700">
              <a:solidFill>
                <a:schemeClr val="dk1"/>
              </a:solidFill>
            </a:endParaRPr>
          </a:p>
        </p:txBody>
      </p:sp>
      <p:sp>
        <p:nvSpPr>
          <p:cNvPr id="135" name="Google Shape;135;p21"/>
          <p:cNvSpPr/>
          <p:nvPr/>
        </p:nvSpPr>
        <p:spPr>
          <a:xfrm>
            <a:off x="62475" y="2943100"/>
            <a:ext cx="6774600" cy="2054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ca" sz="1200"/>
              <a:t>Aquesta sortida m’ha sigut molt útil i crec que ens ha servit molt. En aquest museu he après moltes coses, però la que he trobat més interessant i m’ha semblat més curiós ha sigut la biografia de la Terra, ja que era on he pogut observar la primera cèl·lula fins als primers primats, com aquesta part ja la vam veure una mica al projecte primers pobladors, m’ha ajudat a entendre encara més d'on venim i com ha anat evolucionant la terra. Tot i que no va ser la part que més em va sorprendre, pel fet que la part dels animals em va fascinar, ja que no sabia que hi havia tanta diversitat i també perquè vaig poder conèixer nous animals que no sabia que existien o no sabia com es deien.</a:t>
            </a:r>
            <a:endParaRPr sz="1200"/>
          </a:p>
          <a:p>
            <a:pPr indent="0" lvl="0" marL="0" rtl="0" algn="ctr">
              <a:spcBef>
                <a:spcPts val="1200"/>
              </a:spcBef>
              <a:spcAft>
                <a:spcPts val="0"/>
              </a:spcAft>
              <a:buNone/>
            </a:pPr>
            <a:r>
              <a:t/>
            </a:r>
            <a:endParaRPr/>
          </a:p>
        </p:txBody>
      </p:sp>
      <p:sp>
        <p:nvSpPr>
          <p:cNvPr id="136" name="Google Shape;136;p21"/>
          <p:cNvSpPr/>
          <p:nvPr/>
        </p:nvSpPr>
        <p:spPr>
          <a:xfrm>
            <a:off x="62475" y="1256375"/>
            <a:ext cx="6774600" cy="151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ca" sz="1200"/>
              <a:t>Aquesta sortida per mi ha sigut un repàs de primers pobladors i un nou coneixement del projecte món imaginari. En conclusió, aquesta sortida per mi ha sigut un regal que m’ha ajudat a millorar i aprendre coses que no sabia. Per finalitzar, m’agradaria comentar què m’agradaria haver corregit l’activitat del museu blau per poder mirar altres punts de vista i afegir nova informació, ja que no ho vaig aconseguir acabar del tot, també m'hauria agradat portar a terme amb més profunditat la part dels fòssils i la cèl·lula.</a:t>
            </a:r>
            <a:endParaRPr sz="1200"/>
          </a:p>
          <a:p>
            <a:pPr indent="0" lvl="0" marL="0" rtl="0" algn="just">
              <a:spcBef>
                <a:spcPts val="1200"/>
              </a:spcBef>
              <a:spcAft>
                <a:spcPts val="0"/>
              </a:spcAft>
              <a:buNone/>
            </a:pPr>
            <a:r>
              <a:t/>
            </a:r>
            <a:endParaRPr sz="1200"/>
          </a:p>
        </p:txBody>
      </p:sp>
      <p:pic>
        <p:nvPicPr>
          <p:cNvPr id="137" name="Google Shape;137;p21"/>
          <p:cNvPicPr preferRelativeResize="0"/>
          <p:nvPr/>
        </p:nvPicPr>
        <p:blipFill>
          <a:blip r:embed="rId3">
            <a:alphaModFix/>
          </a:blip>
          <a:stretch>
            <a:fillRect/>
          </a:stretch>
        </p:blipFill>
        <p:spPr>
          <a:xfrm>
            <a:off x="6871225" y="151419"/>
            <a:ext cx="2224200" cy="2618157"/>
          </a:xfrm>
          <a:prstGeom prst="rect">
            <a:avLst/>
          </a:prstGeom>
          <a:noFill/>
          <a:ln>
            <a:noFill/>
          </a:ln>
        </p:spPr>
      </p:pic>
      <p:pic>
        <p:nvPicPr>
          <p:cNvPr id="138" name="Google Shape;138;p21"/>
          <p:cNvPicPr preferRelativeResize="0"/>
          <p:nvPr/>
        </p:nvPicPr>
        <p:blipFill rotWithShape="1">
          <a:blip r:embed="rId4">
            <a:alphaModFix/>
          </a:blip>
          <a:srcRect b="17932" l="0" r="1865" t="0"/>
          <a:stretch/>
        </p:blipFill>
        <p:spPr>
          <a:xfrm>
            <a:off x="6888300" y="2835625"/>
            <a:ext cx="2149275" cy="1009850"/>
          </a:xfrm>
          <a:prstGeom prst="rect">
            <a:avLst/>
          </a:prstGeom>
          <a:noFill/>
          <a:ln>
            <a:noFill/>
          </a:ln>
        </p:spPr>
      </p:pic>
      <p:pic>
        <p:nvPicPr>
          <p:cNvPr id="139" name="Google Shape;139;p21"/>
          <p:cNvPicPr preferRelativeResize="0"/>
          <p:nvPr/>
        </p:nvPicPr>
        <p:blipFill rotWithShape="1">
          <a:blip r:embed="rId5">
            <a:alphaModFix/>
          </a:blip>
          <a:srcRect b="0" l="0" r="4022" t="0"/>
          <a:stretch/>
        </p:blipFill>
        <p:spPr>
          <a:xfrm>
            <a:off x="6888300" y="3845475"/>
            <a:ext cx="2149275" cy="1166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43" name="Shape 143"/>
        <p:cNvGrpSpPr/>
        <p:nvPr/>
      </p:nvGrpSpPr>
      <p:grpSpPr>
        <a:xfrm>
          <a:off x="0" y="0"/>
          <a:ext cx="0" cy="0"/>
          <a:chOff x="0" y="0"/>
          <a:chExt cx="0" cy="0"/>
        </a:xfrm>
      </p:grpSpPr>
      <p:sp>
        <p:nvSpPr>
          <p:cNvPr id="144" name="Google Shape;144;p22"/>
          <p:cNvSpPr txBox="1"/>
          <p:nvPr/>
        </p:nvSpPr>
        <p:spPr>
          <a:xfrm>
            <a:off x="105500" y="185925"/>
            <a:ext cx="8682300" cy="8856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ca" sz="3700">
                <a:solidFill>
                  <a:schemeClr val="dk1"/>
                </a:solidFill>
              </a:rPr>
              <a:t>CREEM EL NOSTRE MÓN IMAGINARI</a:t>
            </a:r>
            <a:endParaRPr b="1" sz="3700">
              <a:solidFill>
                <a:schemeClr val="dk1"/>
              </a:solidFill>
            </a:endParaRPr>
          </a:p>
        </p:txBody>
      </p:sp>
      <p:sp>
        <p:nvSpPr>
          <p:cNvPr id="145" name="Google Shape;145;p22"/>
          <p:cNvSpPr/>
          <p:nvPr/>
        </p:nvSpPr>
        <p:spPr>
          <a:xfrm>
            <a:off x="147150" y="1301525"/>
            <a:ext cx="5898600" cy="357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ca"/>
              <a:t>Aquesta proposta m’ha semblat superencertada ui creativa. Crec que és una oportunitat per treballar en equip, acabar d'entendre els elements d’un projecte i entendre que poden crear les diferents plaques tectòniques.  D’altra banda crec que el meu grup està motivat i estem fent un  bon treball i una bona coordinació. El meu continent té una placa tectònica convergent que fa que tinguem una serralada i un volcà, també em fet altres illes, ja que dues plaques oceàniques poden crear diferents illes. A part d'això el nostre territori té dos climes diferents el clima oceànic i el clima mediterrani i per acabar el nostre continent està situat al sud del món imaginari. En conclusió, aquesta maqueta m'està ajudant a acabar d’adquirir els diferents aprenentatges i m’ha semblat molt creatiu.</a:t>
            </a:r>
            <a:endParaRPr/>
          </a:p>
        </p:txBody>
      </p:sp>
      <p:pic>
        <p:nvPicPr>
          <p:cNvPr descr="Aprenderemos proyecto escolar  de cómo hacer una maqueta  relieve , como proyecto o tarea para la escuela. usando materiales reciclados muy fácil #caratulas  #caratula #pergaminos ▬▬▬▬▬▬▬▬▬▬▬▬▬▬▬▬▬▬▬▬▬▬▬▬▬▬▬▬▬▬▬▬▬▬▬▬▬▬                                                                                                      AQUÍ TIENES MÁS VÍDEOS QUE TE FALTA VER DE CANAL DE DIBUJO REAL                                                                                                             &#10; 👇 Mira aquí debajo 👇 &#10;▬▬▬▬▬▬▬▬▬▬▬▬▬▬▬▬▬▬▬▬▬▬▬▬▬▬▬▬▬▬▬▬▬▬▬▬▬▬         &#10;🚩🚩TODOS LOS VÍDEOS MÁS INCREÍBLES DE DIBUJOS🚩🚩&#10;                                   &#10;✅★las mejores Caratulas para Cuadernos - Mejores Carátulas - Dibujo Real ➨ https://www.youtube.com/watch?v=Ow5R7dvp6tc&amp;list=PL0Oq7YYskbtjhuzkyIieW-FId874uMGOW                                                                                                                                   ✅★ AQUÍ ENCONTRARÁS LAS  MEJORES MAQUETAS FÁCIL DE HACER ➨ https://www.youtube.com/watch?v=9iSqcbUuLIU&amp;list=PL0Oq7YYskbtg02IMdVKv5Td8Yt3PGLbao                                                                                                                                                                     ✅★CARATULAS PARA CUADERNOS DE COMUNICACION Y LENGUAJE ➨ https://www.youtube.com/watch?v=4D8u0Pq_a3s&amp;list=PL0Oq7YYskbtjlnpTFWnxNUE0_0KwU4Uzc  ​                                                                                                                         ✅★CARATULAS PARA CUADERNO DE RELIGION➨https://www.youtube.com/watch?v=T8qj_mcDK8c&amp;list=PL0Oq7YYskbtibMq5u5neOzKNIH0y3h7Du                                                                                                                                                                                           ✅★CARATULAS PARA CUADERNO DE ENGLISH➨                                                                     https://www.youtube.com/watch?v=dB8if1SmRq8&amp;list=PL0Oq7YYskbti8pvAzMJ7HY0UM71bONGRZ                                                                                                                         ✅★CARATULAS PARA CUADENO DE MÚSICA➨ https://www.youtube.com/watch?v=6uxDb21nULQ&amp;list=PL0Oq7YYskbtjjPWlYdWgjIdIyiDVjrc_n                                                                                                                                  ✅★CARATULAS PARA CUADERNO DE COMPUTACION ➨https://www.youtube.com/watch?v=QByovdxutpo&amp;list=PL0Oq7YYskbtgKjqmEyAl-aIdM0JFN697r                                                                                                                       ✅★CARATULAS PARA CUADERNO DE ARTE➨                                                                            https://www.youtube.com/watch?v=EhrQxK1DEA4&amp;list=PL0Oq7YYskbtgwNkmu3cALZPNpxczhee_6                                                                                                                          ✅★CARATULAS PARA CUADERNO DE MATEMÁTICAS ➨https://www.youtube.com/watch?v=4fx1L_T8Z-o&amp;list=PL0Oq7YYskbthF3K9E0dco9x_aSgnbQLSu                                                                                                                                      ✅★MARGENES PARA CUADERNOS➨https://www.youtube.com/watch?v=4qzlP60gsSE&amp;list=PL0Oq7YYskbtifcBXBtQi2UksJgq3zk1Aw                                                                                                                                                      ▬▬▬▬▬▬▬▬▬▬▬▬▬▬▬▬▬▬▬▬▬▬▬▬▬▬▬▬▬▬▬▬▬▬▬▬▬▬                                   &#10; 👇 SÍGUEME EN:  👇                                                                                                                                                                                                                                    FACEBOOK→https://www.facebook.com/CaratulasDibujoReal​&#10; ▬▬▬▬▬▬▬▬▬▬▬▬▬▬▬▬▬▬▬▬▬▬▬▬▬▬▬▬▬▬▬▬▬▬▬▬▬▬   &#10; 🎼 Música. ►►►►► ►Rev Eveningland Música dance y electrónica | Inspiradora ►Ladybug |Quincas Moreira |Música dance y electrónica | Dramática                          ▬▬▬▬▬▬▬▬▬▬▬▬▬▬▬▬▬▬▬▬▬▬▬▬▬▬▬▬▬▬▬▬▬▬▬▬▬▬&#10;Dibujo Real © YouTube | Todos los Derechos Reservados.&#10;✫Autor: Hernando Apaza ✫│YouTuber." id="146" name="Google Shape;146;p22" title="Maqueta de relieve paso a paso muy fácil">
            <a:hlinkClick r:id="rId3"/>
          </p:cNvPr>
          <p:cNvPicPr preferRelativeResize="0"/>
          <p:nvPr/>
        </p:nvPicPr>
        <p:blipFill>
          <a:blip r:embed="rId4">
            <a:alphaModFix/>
          </a:blip>
          <a:stretch>
            <a:fillRect/>
          </a:stretch>
        </p:blipFill>
        <p:spPr>
          <a:xfrm>
            <a:off x="6198150" y="1223925"/>
            <a:ext cx="2793450" cy="1571316"/>
          </a:xfrm>
          <a:prstGeom prst="rect">
            <a:avLst/>
          </a:prstGeom>
          <a:noFill/>
          <a:ln>
            <a:noFill/>
          </a:ln>
        </p:spPr>
      </p:pic>
      <p:pic>
        <p:nvPicPr>
          <p:cNvPr descr="🌍Hoy les enseñare a hacer la maqueta del relieve de la costa muy fácil y paso a paso bien explicado..&#10;💛 Mas Maquetas escolares AQUI: 👉 https://www.youtube.com/playlist?list=PLGw-zZ587mhCuiC3pshGxHNGN2QPHx6Hy" id="147" name="Google Shape;147;p22" title="🌳 Maqueta Del Relieve Costero / Como Hacer La Maqueta Del Relieve de La Costa">
            <a:hlinkClick r:id="rId5"/>
          </p:cNvPr>
          <p:cNvPicPr preferRelativeResize="0"/>
          <p:nvPr/>
        </p:nvPicPr>
        <p:blipFill>
          <a:blip r:embed="rId6">
            <a:alphaModFix/>
          </a:blip>
          <a:stretch>
            <a:fillRect/>
          </a:stretch>
        </p:blipFill>
        <p:spPr>
          <a:xfrm>
            <a:off x="6198150" y="2947641"/>
            <a:ext cx="2793450" cy="15713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51" name="Shape 151"/>
        <p:cNvGrpSpPr/>
        <p:nvPr/>
      </p:nvGrpSpPr>
      <p:grpSpPr>
        <a:xfrm>
          <a:off x="0" y="0"/>
          <a:ext cx="0" cy="0"/>
          <a:chOff x="0" y="0"/>
          <a:chExt cx="0" cy="0"/>
        </a:xfrm>
      </p:grpSpPr>
      <p:sp>
        <p:nvSpPr>
          <p:cNvPr id="152" name="Google Shape;152;p23"/>
          <p:cNvSpPr txBox="1"/>
          <p:nvPr/>
        </p:nvSpPr>
        <p:spPr>
          <a:xfrm>
            <a:off x="493050" y="107775"/>
            <a:ext cx="8169600" cy="478800"/>
          </a:xfrm>
          <a:prstGeom prst="rect">
            <a:avLst/>
          </a:prstGeom>
          <a:solidFill>
            <a:srgbClr val="C9DAF8"/>
          </a:solidFill>
          <a:ln cap="flat" cmpd="tri"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ca" sz="2500">
                <a:solidFill>
                  <a:schemeClr val="dk1"/>
                </a:solidFill>
              </a:rPr>
              <a:t>TANCAMENT</a:t>
            </a:r>
            <a:endParaRPr b="1" sz="2500">
              <a:solidFill>
                <a:schemeClr val="dk1"/>
              </a:solidFill>
            </a:endParaRPr>
          </a:p>
        </p:txBody>
      </p:sp>
      <p:sp>
        <p:nvSpPr>
          <p:cNvPr id="153" name="Google Shape;153;p23"/>
          <p:cNvSpPr/>
          <p:nvPr/>
        </p:nvSpPr>
        <p:spPr>
          <a:xfrm>
            <a:off x="129325" y="728899"/>
            <a:ext cx="4330200" cy="183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ca"/>
              <a:t>Aquest projecte m’ha agradat molt i m’ha semblat molt interessant. A part d’això aquest projecte m’ha obert les portes a nous aprenentatges i a aprendre noves coses que no havia vist encara.</a:t>
            </a:r>
            <a:endParaRPr/>
          </a:p>
        </p:txBody>
      </p:sp>
      <p:sp>
        <p:nvSpPr>
          <p:cNvPr id="154" name="Google Shape;154;p23"/>
          <p:cNvSpPr/>
          <p:nvPr/>
        </p:nvSpPr>
        <p:spPr>
          <a:xfrm>
            <a:off x="4641450" y="739649"/>
            <a:ext cx="4330200" cy="183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br>
              <a:rPr lang="ca"/>
            </a:br>
            <a:endParaRPr/>
          </a:p>
          <a:p>
            <a:pPr indent="0" lvl="0" marL="0" rtl="0" algn="ctr">
              <a:lnSpc>
                <a:spcPct val="115000"/>
              </a:lnSpc>
              <a:spcBef>
                <a:spcPts val="1200"/>
              </a:spcBef>
              <a:spcAft>
                <a:spcPts val="0"/>
              </a:spcAft>
              <a:buClr>
                <a:schemeClr val="dk1"/>
              </a:buClr>
              <a:buSzPts val="1100"/>
              <a:buFont typeface="Arial"/>
              <a:buNone/>
            </a:pPr>
            <a:r>
              <a:rPr lang="ca"/>
              <a:t>Durant el projecte he après que és una placa tectònica com es forma, els diferents elements d’un paisatge, els climes, com funciona un GPS, les coordenades les línies invisibles que divideixen la terra… Aquest projecte és on he adquirit més aprenentatge, ja que d’aquest tema sabia molt poc.</a:t>
            </a:r>
            <a:endParaRPr/>
          </a:p>
          <a:p>
            <a:pPr indent="0" lvl="0" marL="0" rtl="0" algn="l">
              <a:lnSpc>
                <a:spcPct val="115000"/>
              </a:lnSpc>
              <a:spcBef>
                <a:spcPts val="1200"/>
              </a:spcBef>
              <a:spcAft>
                <a:spcPts val="0"/>
              </a:spcAft>
              <a:buClr>
                <a:schemeClr val="dk1"/>
              </a:buClr>
              <a:buSzPts val="1100"/>
              <a:buFont typeface="Arial"/>
              <a:buNone/>
            </a:pPr>
            <a:br>
              <a:rPr lang="ca"/>
            </a:br>
            <a:endParaRPr/>
          </a:p>
          <a:p>
            <a:pPr indent="0" lvl="0" marL="0" rtl="0" algn="ctr">
              <a:spcBef>
                <a:spcPts val="1200"/>
              </a:spcBef>
              <a:spcAft>
                <a:spcPts val="0"/>
              </a:spcAft>
              <a:buNone/>
            </a:pPr>
            <a:r>
              <a:t/>
            </a:r>
            <a:endParaRPr/>
          </a:p>
        </p:txBody>
      </p:sp>
      <p:sp>
        <p:nvSpPr>
          <p:cNvPr id="155" name="Google Shape;155;p23"/>
          <p:cNvSpPr/>
          <p:nvPr/>
        </p:nvSpPr>
        <p:spPr>
          <a:xfrm>
            <a:off x="129325" y="2822075"/>
            <a:ext cx="4330200" cy="183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ca">
                <a:solidFill>
                  <a:schemeClr val="dk1"/>
                </a:solidFill>
              </a:rPr>
              <a:t>Per finalitzar, aquest projecte m’ha ajudat molt i m’ha agradat. Durant aquest procés he après moltes coses, per això m’haurien agradat alguns dies més per adquirir millor els aprenentatges, tot i això, aquest projecte m’ha semblat molt interessant i encertat.</a:t>
            </a:r>
            <a:endParaRPr/>
          </a:p>
        </p:txBody>
      </p:sp>
      <p:pic>
        <p:nvPicPr>
          <p:cNvPr id="156" name="Google Shape;156;p23"/>
          <p:cNvPicPr preferRelativeResize="0"/>
          <p:nvPr/>
        </p:nvPicPr>
        <p:blipFill>
          <a:blip r:embed="rId3">
            <a:alphaModFix/>
          </a:blip>
          <a:stretch>
            <a:fillRect/>
          </a:stretch>
        </p:blipFill>
        <p:spPr>
          <a:xfrm>
            <a:off x="4812349" y="2771200"/>
            <a:ext cx="3772599" cy="21236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